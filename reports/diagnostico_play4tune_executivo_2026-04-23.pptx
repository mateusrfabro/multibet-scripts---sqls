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PLAY4TUNE — DIAGNOSTICO DE FUNIL DE AQUISICAO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9144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CDD9E3"/>
                </a:solidFill>
                <a:latin typeface="Calibri"/>
              </a:rPr>
              <a:t>Causa raiz: instabilidade do gateway de pagamento esta segurando o crescimento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828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Periodo: 01 a 22/Abr/2026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438912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CDD9E3"/>
                </a:solidFill>
                <a:latin typeface="Calibri"/>
              </a:rPr>
              <a:t>Executado em 23/04/2026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51560"/>
            <a:ext cx="3886200" cy="4937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60520" y="1051560"/>
            <a:ext cx="3886200" cy="4937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9872" y="1051560"/>
            <a:ext cx="3886200" cy="4937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143000"/>
            <a:ext cx="3520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B2B40"/>
                </a:solidFill>
                <a:latin typeface="Calibri"/>
              </a:rPr>
              <a:t>1. O QUADRO — 22 DIAS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554480"/>
            <a:ext cx="12801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252B33"/>
                </a:solidFill>
                <a:latin typeface="Calibri"/>
              </a:rPr>
              <a:t>2.393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627632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52B33"/>
                </a:solidFill>
                <a:latin typeface="Calibri"/>
              </a:rPr>
              <a:t>cadastros novos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084832"/>
            <a:ext cx="12801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252B33"/>
                </a:solidFill>
                <a:latin typeface="Calibri"/>
              </a:rPr>
              <a:t>1.677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2157984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52B33"/>
                </a:solidFill>
                <a:latin typeface="Calibri"/>
              </a:rPr>
              <a:t>tentaram depositar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2615184"/>
            <a:ext cx="12801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374756"/>
                </a:solidFill>
                <a:latin typeface="Calibri"/>
              </a:rPr>
              <a:t>648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2688336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52B33"/>
                </a:solidFill>
                <a:latin typeface="Calibri"/>
              </a:rPr>
              <a:t>depositos aprovados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145536"/>
            <a:ext cx="12801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1B5E20"/>
                </a:solidFill>
                <a:latin typeface="Calibri"/>
              </a:rPr>
              <a:t>512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1368" y="3218688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52B33"/>
                </a:solidFill>
                <a:latin typeface="Calibri"/>
              </a:rPr>
              <a:t>viraram primeiro deposito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3767328"/>
            <a:ext cx="3429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374756"/>
                </a:solidFill>
                <a:latin typeface="Calibri"/>
              </a:rPr>
              <a:t>Conversao cadastro → deposito: 21%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5488" y="4087368"/>
            <a:ext cx="3337560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768" y="4224528"/>
            <a:ext cx="3429000" cy="1463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74756"/>
                </a:solidFill>
                <a:latin typeface="Calibri"/>
              </a:rPr>
              <a:t>Origem do trafego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3"/>
                </a:solidFill>
                <a:latin typeface="Calibri"/>
              </a:rPr>
              <a:t>86% vem de Meta (Facebook 64% + Instagram 22%).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52B33"/>
                </a:solidFill>
                <a:latin typeface="Calibri"/>
              </a:rPr>
              <a:t>Tracking funciona (89% dos cadastros com fbclid).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5E20"/>
                </a:solidFill>
                <a:latin typeface="Calibri"/>
              </a:rPr>
              <a:t>Melhor dia: 07/Abr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3"/>
                </a:solidFill>
                <a:latin typeface="Calibri"/>
              </a:rPr>
              <a:t>189 cadastros, 42 primeiros depositos, 0 falhas de gateway.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1143000"/>
            <a:ext cx="3520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alibri"/>
              </a:rPr>
              <a:t>2. ONDE O DINHEIRO ESTA ESCAPANDO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1600200"/>
            <a:ext cx="34290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C62828"/>
                </a:solidFill>
                <a:latin typeface="Calibri"/>
              </a:rPr>
              <a:t>864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331720"/>
            <a:ext cx="3429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374756"/>
                </a:solidFill>
                <a:latin typeface="Calibri"/>
              </a:rPr>
              <a:t>depositos expiraram no meio do caminho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606040"/>
            <a:ext cx="3429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707882"/>
                </a:solidFill>
                <a:latin typeface="Calibri"/>
              </a:rPr>
              <a:t>(51% de TODAS as tentativas de deposito)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34840" y="3108960"/>
            <a:ext cx="3337560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89120" y="3246120"/>
            <a:ext cx="34290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62828"/>
                </a:solidFill>
                <a:latin typeface="Calibri"/>
              </a:rPr>
              <a:t>251 jogadores nunca voltaram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252B33"/>
                </a:solidFill>
                <a:latin typeface="Calibri"/>
              </a:rPr>
              <a:t>Registraram, tentaram depositar, foi recusado — e nunca mais apareceram.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62828"/>
                </a:solidFill>
                <a:latin typeface="Calibri"/>
              </a:rPr>
              <a:t>R$ 7.800 em intencao de deposito perdida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252B33"/>
                </a:solidFill>
                <a:latin typeface="Calibri"/>
              </a:rPr>
              <a:t>441 mil PKR que jogadores tentaram depositar mas nao conseguiram.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74756"/>
                </a:solidFill>
                <a:latin typeface="Calibri"/>
              </a:rPr>
              <a:t>Pior horario: 22h-23h (Paquistao)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252B33"/>
                </a:solidFill>
                <a:latin typeface="Calibri"/>
              </a:rPr>
              <a:t>Aprovacao cai de 50% (horario calmo) para 25% no pico. O gateway nao aguenta o volume.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74756"/>
                </a:solidFill>
                <a:latin typeface="Calibri"/>
              </a:rPr>
              <a:t>Por que isso acontece?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3"/>
                </a:solidFill>
                <a:latin typeface="Calibri"/>
              </a:rPr>
              <a:t>Quem conclui o deposito, conclui em menos de 1 minuto. Quando passa disso, ja era.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1143000"/>
            <a:ext cx="3520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B5E20"/>
                </a:solidFill>
                <a:latin typeface="Calibri"/>
              </a:rPr>
              <a:t>3. O QUE FAZER — PRIORIDADE</a:t>
            </a:r>
          </a:p>
        </p:txBody>
      </p:sp>
      <p:sp>
        <p:nvSpPr>
          <p:cNvPr id="29" name="Oval 28"/>
          <p:cNvSpPr/>
          <p:nvPr/>
        </p:nvSpPr>
        <p:spPr>
          <a:xfrm>
            <a:off x="8302752" y="1581912"/>
            <a:ext cx="347472" cy="34747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1554480"/>
            <a:ext cx="30632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B2B40"/>
                </a:solidFill>
                <a:latin typeface="Calibri"/>
              </a:rPr>
              <a:t>Ativar gateway reserva ja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1847088"/>
            <a:ext cx="30632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52B33"/>
                </a:solidFill>
                <a:latin typeface="Calibri"/>
              </a:rPr>
              <a:t>Um 2o gateway (OKExPay) foi cadastrado em 23/04, mas nao esta operando. Colocar no ar com roteamento inteligente para 20h-23h (Paquistao).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9952" y="2560320"/>
            <a:ext cx="30632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1">
                <a:solidFill>
                  <a:srgbClr val="707882"/>
                </a:solidFill>
                <a:latin typeface="Calibri"/>
              </a:rPr>
              <a:t>CTO / Engenharia  •  esta semana</a:t>
            </a:r>
          </a:p>
        </p:txBody>
      </p:sp>
      <p:sp>
        <p:nvSpPr>
          <p:cNvPr id="33" name="Oval 32"/>
          <p:cNvSpPr/>
          <p:nvPr/>
        </p:nvSpPr>
        <p:spPr>
          <a:xfrm>
            <a:off x="8302752" y="2999232"/>
            <a:ext cx="347472" cy="34747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2971800"/>
            <a:ext cx="30632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B2B40"/>
                </a:solidFill>
                <a:latin typeface="Calibri"/>
              </a:rPr>
              <a:t>Deslocar campanhas Meta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2" y="3264408"/>
            <a:ext cx="30632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52B33"/>
                </a:solidFill>
                <a:latin typeface="Calibri"/>
              </a:rPr>
              <a:t>Disparar ads entre 14h-20h PKT, quando o gateway funciona bem. Ganho estimado: +10 a +15 pontos percentuais de aprovacao, sem mexer em backend.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9952" y="3977640"/>
            <a:ext cx="30632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1">
                <a:solidFill>
                  <a:srgbClr val="707882"/>
                </a:solidFill>
                <a:latin typeface="Calibri"/>
              </a:rPr>
              <a:t>CGO / Trafego  •  proxima semana</a:t>
            </a:r>
          </a:p>
        </p:txBody>
      </p:sp>
      <p:sp>
        <p:nvSpPr>
          <p:cNvPr id="37" name="Oval 36"/>
          <p:cNvSpPr/>
          <p:nvPr/>
        </p:nvSpPr>
        <p:spPr>
          <a:xfrm>
            <a:off x="8302752" y="4416552"/>
            <a:ext cx="347472" cy="34747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9952" y="4389120"/>
            <a:ext cx="30632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B2B40"/>
                </a:solidFill>
                <a:latin typeface="Calibri"/>
              </a:rPr>
              <a:t>Recuperar deposito em 90s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9952" y="4681728"/>
            <a:ext cx="30632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52B33"/>
                </a:solidFill>
                <a:latin typeface="Calibri"/>
              </a:rPr>
              <a:t>SMS / WhatsApp automatico 60-90 segundos apos tentativa nao concluida: "seu deposito esta pendente, clique aqui". Recuperacao estimada: +50 FTDs/mes.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9952" y="5394960"/>
            <a:ext cx="30632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1">
                <a:solidFill>
                  <a:srgbClr val="707882"/>
                </a:solidFill>
                <a:latin typeface="Calibri"/>
              </a:rPr>
              <a:t>Produto / CRM  •  2 semanas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6153912"/>
            <a:ext cx="6400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0B2B40"/>
                </a:solidFill>
                <a:latin typeface="Calibri"/>
              </a:rPr>
              <a:t>O que ainda falta validar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382512"/>
            <a:ext cx="82296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>
                <a:solidFill>
                  <a:srgbClr val="374756"/>
                </a:solidFill>
                <a:latin typeface="Calibri"/>
              </a:rPr>
              <a:t>•  Custo Meta Ads / CPA real por campanha (pull 24/Abr)    •  Diagnostico com o provedor do gateway (BCTYSO) sobre saturacao 20-23h PKT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583680"/>
            <a:ext cx="82296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>
                <a:solidFill>
                  <a:srgbClr val="374756"/>
                </a:solidFill>
                <a:latin typeface="Calibri"/>
              </a:rPr>
              <a:t>•  Confirmar se o gateway reserva (OKExPay, ativo desde 23/04 01:16) esta recebendo trafego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6309360"/>
            <a:ext cx="31089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>
                <a:solidFill>
                  <a:srgbClr val="0B2B40"/>
                </a:solidFill>
                <a:latin typeface="Calibri"/>
              </a:rPr>
              <a:t>Elaborado: Mateus Fabro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6519672"/>
            <a:ext cx="310896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50" b="0">
                <a:solidFill>
                  <a:srgbClr val="707882"/>
                </a:solidFill>
                <a:latin typeface="Calibri"/>
              </a:rPr>
              <a:t>Fonte: banco Play4Tune  •  Filtros: usuarios de teste + farming excluidos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